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Signal weights (base 15; P1 ≥ 70, P2 ≥ 40, P3 ≥ 15)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F26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active_property_damage</c:v>
                  </c:pt>
                  <c:pt idx="1">
                    <c:v>safety_risk</c:v>
                  </c:pt>
                  <c:pt idx="2">
                    <c:v>locked_out</c:v>
                  </c:pt>
                  <c:pt idx="3">
                    <c:v>time_critical_deadline</c:v>
                  </c:pt>
                  <c:pt idx="4">
                    <c:v>lien_or_auction_risk</c:v>
                  </c:pt>
                  <c:pt idx="5">
                    <c:v>repeat_unresolved_issue</c:v>
                  </c:pt>
                  <c:pt idx="6">
                    <c:v>financial_impact_imminent</c:v>
                  </c:pt>
                  <c:pt idx="7">
                    <c:v>billing_discrepancy</c:v>
                  </c:pt>
                  <c:pt idx="8">
                    <c:v>informational_only</c:v>
                  </c:pt>
                  <c:pt idx="9">
                    <c:v>explicitly_not_urgent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</c:v>
                </c:pt>
                <c:pt idx="1">
                  <c:v>60</c:v>
                </c:pt>
                <c:pt idx="2">
                  <c:v>35</c:v>
                </c:pt>
                <c:pt idx="3">
                  <c:v>30</c:v>
                </c:pt>
                <c:pt idx="4">
                  <c:v>30</c:v>
                </c:pt>
                <c:pt idx="5">
                  <c:v>25</c:v>
                </c:pt>
                <c:pt idx="6">
                  <c:v>20</c:v>
                </c:pt>
                <c:pt idx="7">
                  <c:v>10</c:v>
                </c:pt>
                <c:pt idx="8">
                  <c:v>-15</c:v>
                </c:pt>
                <c:pt idx="9">
                  <c:v>-20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some requests are emergencies, some are small billing errors we can fix instantly, and some are attempts to get money that isn't owed. The agent handles all three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a Spanish-language request, vague claims ('not sure by how much'), off-taxonomy questions, and one true duplicate (Renwick TR-6039 vs open TR-6038).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flow is left to right. Only the tool environment touches the database, and every write goes through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Blocked attempts are returned to the model as errors it can correct, and stored with allowed=false so reviewers see what was prevented.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targets with the measured Claude numbers from eval/latest_eval.json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463040"/>
            <a:ext cx="1234440" cy="1645920"/>
          </a:xfrm>
          <a:prstGeom prst="roundRect">
            <a:avLst>
              <a:gd name="adj" fmla="val 3704"/>
            </a:avLst>
          </a:prstGeom>
          <a:solidFill>
            <a:srgbClr val="2C3A4A"/>
          </a:solidFill>
          <a:ln w="12700">
            <a:solidFill>
              <a:srgbClr val="3D4E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1463040"/>
            <a:ext cx="1234440" cy="1645920"/>
          </a:xfrm>
          <a:prstGeom prst="roundRect">
            <a:avLst>
              <a:gd name="adj" fmla="val 3704"/>
            </a:avLst>
          </a:prstGeom>
          <a:solidFill>
            <a:srgbClr val="F26B21"/>
          </a:solidFill>
          <a:ln w="12700">
            <a:solidFill>
              <a:srgbClr val="3D4E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1463040"/>
            <a:ext cx="1234440" cy="1645920"/>
          </a:xfrm>
          <a:prstGeom prst="roundRect">
            <a:avLst>
              <a:gd name="adj" fmla="val 3704"/>
            </a:avLst>
          </a:prstGeom>
          <a:solidFill>
            <a:srgbClr val="2C3A4A"/>
          </a:solidFill>
          <a:ln w="12700">
            <a:solidFill>
              <a:srgbClr val="3D4E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3291840"/>
            <a:ext cx="1234440" cy="1645920"/>
          </a:xfrm>
          <a:prstGeom prst="roundRect">
            <a:avLst>
              <a:gd name="adj" fmla="val 3704"/>
            </a:avLst>
          </a:prstGeom>
          <a:solidFill>
            <a:srgbClr val="2C3A4A"/>
          </a:solidFill>
          <a:ln w="12700">
            <a:solidFill>
              <a:srgbClr val="3D4E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06840" y="3291840"/>
            <a:ext cx="1234440" cy="1645920"/>
          </a:xfrm>
          <a:prstGeom prst="roundRect">
            <a:avLst>
              <a:gd name="adj" fmla="val 3704"/>
            </a:avLst>
          </a:prstGeom>
          <a:solidFill>
            <a:srgbClr val="2C3A4A"/>
          </a:solidFill>
          <a:ln w="12700">
            <a:solidFill>
              <a:srgbClr val="3D4E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0" y="3291840"/>
            <a:ext cx="1234440" cy="1645920"/>
          </a:xfrm>
          <a:prstGeom prst="roundRect">
            <a:avLst>
              <a:gd name="adj" fmla="val 3704"/>
            </a:avLst>
          </a:prstGeom>
          <a:solidFill>
            <a:srgbClr val="2C3A4A"/>
          </a:solidFill>
          <a:ln w="12700">
            <a:solidFill>
              <a:srgbClr val="3D4E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TALENT QUEST · ROUND 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288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Care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260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guardrailed AI agent that triages tenant requests, fixes verified billing errors, and keeps humans in control.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Claude · SQLAlchemy · Streamlit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test: can the agent be trusted?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tenant requests and 29 billing records, with deliberate traps in the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 goodwill demand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record says $33.85. Never pay the claimed amount.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5740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shows $0 or −$338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discrepancy, or the tenant actually owes. No credit.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~$310 verified overcharge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0632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but above the auto-limit. A human approves.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different person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Marguerite Effiong ≠ Marguerite Solheim. Exact match only.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976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text, 4 tenants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duplicates. Only same-tenant open tickets are.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2976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"URGENT" vs real emergency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Sprinkler dripping, tenant flying out in 1 hour: P1. Capital letters alone: not.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for every request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as an agent, not a single call: it decides which tools to use, then takes exactly one final 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22402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612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2918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categories, confidence, urgency signals, claim details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67712" y="3154680"/>
            <a:ext cx="137160" cy="182880"/>
          </a:xfrm>
          <a:prstGeom prst="rtTriangl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0116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35808" y="22402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3580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history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532888" y="32918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same-tenant duplicates and repeats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42232" y="3154680"/>
            <a:ext cx="137160" cy="182880"/>
          </a:xfrm>
          <a:prstGeom prst="rtTriangl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0116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0328" y="22402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1032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07408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context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407408" y="32918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required when confidence &lt; 0.75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16752" y="3154680"/>
            <a:ext cx="137160" cy="182880"/>
          </a:xfrm>
          <a:prstGeom prst="rtTriangl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20116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84848" y="22402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8484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81928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billing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281928" y="32918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real record for specific claims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91272" y="3154680"/>
            <a:ext cx="137160" cy="182880"/>
          </a:xfrm>
          <a:prstGeom prst="rtTriangl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20116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59368" y="22402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5936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156448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156448" y="32918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computes priority, team, credit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65792" y="3154680"/>
            <a:ext cx="137160" cy="182880"/>
          </a:xfrm>
          <a:prstGeom prst="rtTriangl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21240" y="2011680"/>
            <a:ext cx="1691640" cy="2468880"/>
          </a:xfrm>
          <a:prstGeom prst="roundRect">
            <a:avLst>
              <a:gd name="adj" fmla="val 4324"/>
            </a:avLst>
          </a:prstGeom>
          <a:solidFill>
            <a:srgbClr val="1F2A36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33888" y="224028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3388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030968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10030968" y="32918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· close duplicate · route · credit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DEBDD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persisted: </a:t>
            </a:r>
            <a:pPr indent="0" marL="0"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classifications with reasoning, every tool call (including blocked ones), actions, courtesy credits and human overrides. Reviewers see all of it and can override anything.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938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CSVs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billing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3675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23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idempotent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17320" y="3017520"/>
            <a:ext cx="0" cy="54864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35661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71800" y="3675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/ Postgres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0" y="4160520"/>
            <a:ext cx="548640" cy="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34640" y="14630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97180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19202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loop, 8 steps; parallel workers; safe fallback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49040" y="3566160"/>
            <a:ext cx="0" cy="-73152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12080" y="1371600"/>
            <a:ext cx="3931920" cy="4480560"/>
          </a:xfrm>
          <a:prstGeom prst="roundRect">
            <a:avLst>
              <a:gd name="adj" fmla="val 2326"/>
            </a:avLst>
          </a:prstGeom>
          <a:solidFill>
            <a:srgbClr val="1F2A36"/>
          </a:solidFill>
          <a:ln w="12700">
            <a:solidFill>
              <a:srgbClr val="1F2A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187452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2C3A4A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2356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(LLM)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prompt · strict tool schemas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0" y="315468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2C3A4A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62356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environment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order + guardrails on every call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0" y="44348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26B21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623560" y="4544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623560" y="48920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routing · 8-rule credit check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78040" y="2880360"/>
            <a:ext cx="0" cy="27432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4160520"/>
            <a:ext cx="0" cy="27432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663440" y="2148840"/>
            <a:ext cx="548640" cy="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92640" y="14630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82980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console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829800" y="1920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Streamlit: reasoning, trace, overrides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692640" y="3291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9829800" y="3401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829800" y="3749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100 gold labels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92640" y="484632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829800" y="4956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829800" y="5303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+ override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144000" y="2148840"/>
            <a:ext cx="548640" cy="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144000" y="3840480"/>
            <a:ext cx="548640" cy="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144000" y="5394960"/>
            <a:ext cx="548640" cy="0"/>
          </a:xfrm>
          <a:prstGeom prst="line">
            <a:avLst/>
          </a:prstGeom>
          <a:noFill/>
          <a:ln w="25400">
            <a:solidFill>
              <a:srgbClr val="F26B21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548640" y="6035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proposes, the policy decides.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agent, not many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justified design choice, not a default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(rejected)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 one sequential decision; every step depends on the one before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Hand-offs between classifier, billing and router agents add failure points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3–4× the LLM calls, latency and cost, with no accuracy gain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specialist knowledge (billing rules, routing, priority) is deterministic, so it doesn't need an LLM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F2A36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+ policy engine (chosen)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603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handles language and judgement: classify, extract, reason, choose tools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handles money and state: priority, routing, credit amount, duplicate validity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logic is exposed as tools and policy, and is testable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out: many single-agent workers run in parallel, one per ticket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tools, each least-privilege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28800"/>
                <a:gridCol w="6217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record_classification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capture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enum schema; policy returns priority, team and next steps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search_request_history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tool #1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 to this tenant (exact name); no ID arguments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get_customer_context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tool #2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when confidence &lt; 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lookup_billing_record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only; REQUIRED for a specific claim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issue_courtesy_credit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amount argument; the amount comes from the record; 8-rule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acknowledge_request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after an issued credit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route_request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team is chosen by policy, not the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3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close_as_duplicate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tenant, earlier, still open; never P1 into a lower 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final action is allowed per request. Any call after it is blocked.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sets the amount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270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is Billing &amp; Autopay Dispute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756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0.80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24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type is eligible (never goodwill)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729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stated a specific amount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7216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record matches the exact name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2702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discrepancy &gt; $0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8188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within ±max($2, 10%) of the record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6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3675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credit for this customer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0" y="146304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1F2A36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5895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= verified record amount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589520" y="21488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claims "$22" and the record says 22.75, so the credit is $22.75. The tool has no amount parameter, so injection cannot change it.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0" y="3794760"/>
            <a:ext cx="4297680" cy="2148840"/>
          </a:xfrm>
          <a:prstGeom prst="roundRect">
            <a:avLst>
              <a:gd name="adj" fmla="val 3404"/>
            </a:avLst>
          </a:prstGeom>
          <a:solidFill>
            <a:srgbClr val="FDEBDD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58952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$50 auto-cap → human approval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4480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Percival's ~$310 is verified but becomes pending_approval. A reviewer approves or rejects it in the console. A lock and a unique constraint prevent double payouts.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depth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order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0299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can't act before classify → history → context (if unsure) → billing lookup (if a claim).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checks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0299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messages are ≤ 600 characters, mention no invented amounts, and make no refund promises unless a credit was issued.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6301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text is fenced as untrusted data. Tools take no IDs or amounts, and schemas are strict.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52044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246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6301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0.55 goes to Human Triage, with no duplicate close and no credit.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554480" y="52303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P1 with active damage or a safety risk goes to Facilities Emergency Response and is never auto-closed.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46634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512064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4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failure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523036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refusals, step budget or no final action: route to Human Triage. Never dropped.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priority and routing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extracts signals; deterministic weights turn them into P1–P4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002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6002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1F2A36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13232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TR-6096 · sprinkler dripping, flying out in 1 hour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2402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15 | active_property_damage +60 | time_critical_deadline +30 = 105 → P1 → Facilities Emergency Response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0" y="3840480"/>
            <a:ext cx="47548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132320" y="4023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TR-6076 · Business Elite, "no rush at all"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44805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15 | explicitly_not_urgent −20 | tier +5 = 0 → P4. Account tier and capital letters can't jump the queue. Every reviewer sees this arithmetic.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assumed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Hand-labelled gold outcomes for all 100 requests; the eval gates every prompt or model change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precision target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wrong payouts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042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6042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34975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recall target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9758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missed emergency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7220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accuracy target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items accept alternatives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83980" y="17373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98398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6B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91211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2114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trap + failure mode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DEBDD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also reports </a:t>
            </a:r>
            <a:pPr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and action accuracy, strict credit recall, fallbacks, guardrail blocks, average steps, latency and cost per run</a:t>
            </a:r>
            <a:pPr indent="0" marL="0">
              <a:buNone/>
            </a:pPr>
            <a:r>
              <a:rPr lang="en-US" sz="15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classification stores the model's reasoning. When a tool shows it was wrong, the model revises the classification, and every revision is kept.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stay in control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review console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81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5819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P1 first, with filters by team, category and status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408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reasoning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34086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reasoning, priority arithmetic, routing rule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99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tool trace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09981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step, with blocked attempts highlighted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58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anything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8587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priority, team, status; a reviewer and reason are required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control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issued credits; approve or reject pending ones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376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53766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and human change, with who, when and why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readiness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079992" y="4114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79992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backoff, timeouts, refusal fallback, safe fallback to Human Triage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042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89020" y="1691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8902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LLMClient interface; Claude or offline agent chosen by config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691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Re-runnable ingest; untriaged requests only; unique credits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12580" y="1691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21258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logs with PII redacted; tokens, latency, cost and prompt version per run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on the system prompt and tools; effort=medium; per-run cost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60420" y="3794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58902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589020" y="4526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(non-root, healthcheck); SQLite → Postgres by URL; config via env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3794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080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526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pytest tests: traps, protocol, failures, overrides, end to end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83980" y="3794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12580" y="4023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12580" y="4526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 today; queue + Batches API + Postgres next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where it's safe.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where it's not.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explained, measured, and reversible.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B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92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TR-6096 emergency · TR-6013 verified credit · TR-6073 $210 blocked · TR-6070 approval · TR-6039 duplicate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Care - AI Triage Agent</dc:title>
  <dc:subject>PptxGenJS Presentation</dc:subject>
  <dc:creator>PptxGenJS</dc:creator>
  <cp:lastModifiedBy>PptxGenJS</cp:lastModifiedBy>
  <cp:revision>1</cp:revision>
  <dcterms:created xsi:type="dcterms:W3CDTF">2026-09-27T06:30:57Z</dcterms:created>
  <dcterms:modified xsi:type="dcterms:W3CDTF">2026-09-27T06:30:57Z</dcterms:modified>
</cp:coreProperties>
</file>